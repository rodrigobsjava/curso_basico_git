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05840"/>
            <a:ext cx="58521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24292F"/>
                </a:solidFill>
              </a:rPr>
              <a:t>Curso Rápido de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24292F"/>
                </a:solidFill>
              </a:rPr>
              <a:t>Git e GitHub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768096" y="249631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7606A"/>
                </a:solidFill>
              </a:rPr>
              <a:t>5 aulas práticas para iniciantes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8096" y="3063240"/>
            <a:ext cx="1737360" cy="438912"/>
          </a:xfrm>
          <a:prstGeom prst="roundRect">
            <a:avLst>
              <a:gd name="adj" fmla="val 16667"/>
            </a:avLst>
          </a:prstGeom>
          <a:solidFill>
            <a:srgbClr val="DDF4FF"/>
          </a:solidFill>
          <a:ln w="12700">
            <a:solidFill>
              <a:srgbClr val="DDF4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3182112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92F"/>
                </a:solidFill>
              </a:rPr>
              <a:t>Aprender fazendo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97480" y="3063240"/>
            <a:ext cx="1325880" cy="438912"/>
          </a:xfrm>
          <a:prstGeom prst="roundRect">
            <a:avLst>
              <a:gd name="adj" fmla="val 16667"/>
            </a:avLst>
          </a:prstGeom>
          <a:solidFill>
            <a:srgbClr val="DAFBE1"/>
          </a:solidFill>
          <a:ln w="12700">
            <a:solidFill>
              <a:srgbClr val="DAFBE1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70632" y="3182112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92F"/>
                </a:solidFill>
              </a:rPr>
              <a:t>Projeto final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3063240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FFF1E5"/>
          </a:solidFill>
          <a:ln w="12700">
            <a:solidFill>
              <a:srgbClr val="FFF1E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79392" y="318211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92F"/>
                </a:solidFill>
              </a:rPr>
              <a:t>Sala de aula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20840" y="1051560"/>
            <a:ext cx="4251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67144" y="1197864"/>
            <a:ext cx="395935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292F"/>
                </a:solidFill>
              </a:rPr>
              <a:t>Git salva versões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4292F"/>
                </a:solidFill>
              </a:rPr>
              <a:t>GitHub publica e colabora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720840" y="2606040"/>
            <a:ext cx="4251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67144" y="2752344"/>
            <a:ext cx="395935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292F"/>
                </a:solidFill>
              </a:rPr>
              <a:t>Do terminal ao portfólio publicado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720840" y="3886200"/>
            <a:ext cx="4251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67144" y="4032504"/>
            <a:ext cx="395935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</a:rPr>
              <a:t>Material com roteiro de 1h por encontro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875520" y="6446520"/>
            <a:ext cx="1645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Git/GitHub •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6868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429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do curso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932688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estrutura foi pensada para iniciantes absolutos.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09728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74520"/>
            <a:ext cx="1691640" cy="1097280"/>
          </a:xfrm>
          <a:prstGeom prst="roundRect">
            <a:avLst>
              <a:gd name="adj" fmla="val 6667"/>
            </a:avLst>
          </a:prstGeom>
          <a:solidFill>
            <a:srgbClr val="DDF4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020824"/>
            <a:ext cx="1399032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</a:rPr>
              <a:t>1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</a:rPr>
              <a:t>Git local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23160" y="2423160"/>
            <a:ext cx="548640" cy="0"/>
          </a:xfrm>
          <a:prstGeom prst="line">
            <a:avLst/>
          </a:prstGeom>
          <a:noFill/>
          <a:ln w="12700">
            <a:solidFill>
              <a:srgbClr val="57606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71800" y="1874520"/>
            <a:ext cx="1691640" cy="1097280"/>
          </a:xfrm>
          <a:prstGeom prst="roundRect">
            <a:avLst>
              <a:gd name="adj" fmla="val 6667"/>
            </a:avLst>
          </a:prstGeom>
          <a:solidFill>
            <a:srgbClr val="DAFBE1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18104" y="2020824"/>
            <a:ext cx="1399032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</a:rPr>
              <a:t>2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</a:rPr>
              <a:t>Commits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663440" y="2423160"/>
            <a:ext cx="548640" cy="0"/>
          </a:xfrm>
          <a:prstGeom prst="line">
            <a:avLst/>
          </a:prstGeom>
          <a:noFill/>
          <a:ln w="12700">
            <a:solidFill>
              <a:srgbClr val="57606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212080" y="1874520"/>
            <a:ext cx="1691640" cy="1097280"/>
          </a:xfrm>
          <a:prstGeom prst="roundRect">
            <a:avLst>
              <a:gd name="adj" fmla="val 6667"/>
            </a:avLst>
          </a:prstGeom>
          <a:solidFill>
            <a:srgbClr val="FFF1E5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58384" y="2020824"/>
            <a:ext cx="1399032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</a:rPr>
              <a:t>3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</a:rPr>
              <a:t>GitHub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903720" y="2423160"/>
            <a:ext cx="548640" cy="0"/>
          </a:xfrm>
          <a:prstGeom prst="line">
            <a:avLst/>
          </a:prstGeom>
          <a:noFill/>
          <a:ln w="12700">
            <a:solidFill>
              <a:srgbClr val="57606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52360" y="1874520"/>
            <a:ext cx="1691640" cy="1097280"/>
          </a:xfrm>
          <a:prstGeom prst="roundRect">
            <a:avLst>
              <a:gd name="adj" fmla="val 6667"/>
            </a:avLst>
          </a:prstGeom>
          <a:solidFill>
            <a:srgbClr val="FBE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98664" y="2020824"/>
            <a:ext cx="1399032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</a:rPr>
              <a:t>4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</a:rPr>
              <a:t>Branches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144000" y="2423160"/>
            <a:ext cx="548640" cy="0"/>
          </a:xfrm>
          <a:prstGeom prst="line">
            <a:avLst/>
          </a:prstGeom>
          <a:noFill/>
          <a:ln w="12700">
            <a:solidFill>
              <a:srgbClr val="57606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692640" y="1874520"/>
            <a:ext cx="1691640" cy="1097280"/>
          </a:xfrm>
          <a:prstGeom prst="roundRect">
            <a:avLst>
              <a:gd name="adj" fmla="val 6667"/>
            </a:avLst>
          </a:prstGeom>
          <a:solidFill>
            <a:srgbClr val="DDF4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38944" y="2020824"/>
            <a:ext cx="1399032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</a:rPr>
              <a:t>5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</a:rPr>
              <a:t>Merge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011680" y="393192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57984" y="4078224"/>
            <a:ext cx="7845552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292F"/>
                </a:solidFill>
              </a:rPr>
              <a:t>Resultado final: mini portfólio versionado e publicado no GitHub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875520" y="6446520"/>
            <a:ext cx="1645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Git/GitHub •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6868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429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 x GitHub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932688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distinção principal que o aluno precisa memorizar.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09728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28800"/>
            <a:ext cx="4389120" cy="1325880"/>
          </a:xfrm>
          <a:prstGeom prst="roundRect">
            <a:avLst>
              <a:gd name="adj" fmla="val 5517"/>
            </a:avLst>
          </a:prstGeom>
          <a:solidFill>
            <a:srgbClr val="DDF4FF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1975104"/>
            <a:ext cx="4096512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292F"/>
                </a:solidFill>
              </a:rPr>
              <a:t>Git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4292F"/>
                </a:solidFill>
              </a:rPr>
              <a:t>Controle de versão local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4292F"/>
                </a:solidFill>
              </a:rPr>
              <a:t>Funciona no computador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858000" y="1828800"/>
            <a:ext cx="4389120" cy="1325880"/>
          </a:xfrm>
          <a:prstGeom prst="roundRect">
            <a:avLst>
              <a:gd name="adj" fmla="val 5517"/>
            </a:avLst>
          </a:prstGeom>
          <a:solidFill>
            <a:srgbClr val="DAFBE1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04304" y="1975104"/>
            <a:ext cx="4096512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292F"/>
                </a:solidFill>
              </a:rPr>
              <a:t>GitHub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4292F"/>
                </a:solidFill>
              </a:rPr>
              <a:t>Hospedagem online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4292F"/>
                </a:solidFill>
              </a:rPr>
              <a:t>Compartilha o repositório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23560" y="2240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969DA"/>
                </a:solidFill>
              </a:rPr>
              <a:t>⇄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0" y="278892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7606A"/>
                </a:solidFill>
              </a:rPr>
              <a:t>push / pull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977640"/>
            <a:ext cx="98755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100" dirty="0">
                <a:solidFill>
                  <a:srgbClr val="24292F"/>
                </a:solidFill>
              </a:rPr>
              <a:t>Git é a ferramenta</a:t>
            </a:r>
            <a:endParaRPr lang="en-US" sz="2100" dirty="0"/>
          </a:p>
          <a:p>
            <a:r>
              <a:rPr lang="en-US" sz="2100" dirty="0">
                <a:solidFill>
                  <a:srgbClr val="24292F"/>
                </a:solidFill>
              </a:rPr>
              <a:t>GitHub é a plataforma</a:t>
            </a:r>
            <a:endParaRPr lang="en-US" sz="2100" dirty="0"/>
          </a:p>
          <a:p>
            <a:r>
              <a:rPr lang="en-US" sz="2100" dirty="0">
                <a:solidFill>
                  <a:srgbClr val="24292F"/>
                </a:solidFill>
              </a:rPr>
              <a:t>Os dois trabalham juntos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875520" y="6446520"/>
            <a:ext cx="1645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Git/GitHub •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6868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429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Fluxo básico que vamos repetir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932688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ciclo central: editar, preparar, salvar e enviar.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09728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1572768" cy="822960"/>
          </a:xfrm>
          <a:prstGeom prst="roundRect">
            <a:avLst>
              <a:gd name="adj" fmla="val 8889"/>
            </a:avLst>
          </a:prstGeom>
          <a:solidFill>
            <a:srgbClr val="FFF1E5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2340864"/>
            <a:ext cx="1280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</a:rPr>
              <a:t>Arquivo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</a:rPr>
              <a:t>editado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21408" y="2606040"/>
            <a:ext cx="292608" cy="0"/>
          </a:xfrm>
          <a:prstGeom prst="line">
            <a:avLst/>
          </a:prstGeom>
          <a:noFill/>
          <a:ln w="12700">
            <a:solidFill>
              <a:srgbClr val="57606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87168" y="2194560"/>
            <a:ext cx="157276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3472" y="2340864"/>
            <a:ext cx="1280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</a:rPr>
              <a:t>git status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59936" y="2606040"/>
            <a:ext cx="292608" cy="0"/>
          </a:xfrm>
          <a:prstGeom prst="line">
            <a:avLst/>
          </a:prstGeom>
          <a:noFill/>
          <a:ln w="12700">
            <a:solidFill>
              <a:srgbClr val="57606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25696" y="2194560"/>
            <a:ext cx="1572768" cy="822960"/>
          </a:xfrm>
          <a:prstGeom prst="roundRect">
            <a:avLst>
              <a:gd name="adj" fmla="val 8889"/>
            </a:avLst>
          </a:prstGeom>
          <a:solidFill>
            <a:srgbClr val="DDF4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340864"/>
            <a:ext cx="1280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</a:rPr>
              <a:t>git add 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98464" y="2606040"/>
            <a:ext cx="292608" cy="0"/>
          </a:xfrm>
          <a:prstGeom prst="line">
            <a:avLst/>
          </a:prstGeom>
          <a:noFill/>
          <a:ln w="12700">
            <a:solidFill>
              <a:srgbClr val="57606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64224" y="2194560"/>
            <a:ext cx="1572768" cy="822960"/>
          </a:xfrm>
          <a:prstGeom prst="roundRect">
            <a:avLst>
              <a:gd name="adj" fmla="val 8889"/>
            </a:avLst>
          </a:prstGeom>
          <a:solidFill>
            <a:srgbClr val="DAFBE1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0528" y="2340864"/>
            <a:ext cx="1280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</a:rPr>
              <a:t>git commit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936992" y="2606040"/>
            <a:ext cx="292608" cy="0"/>
          </a:xfrm>
          <a:prstGeom prst="line">
            <a:avLst/>
          </a:prstGeom>
          <a:noFill/>
          <a:ln w="12700">
            <a:solidFill>
              <a:srgbClr val="57606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302752" y="2194560"/>
            <a:ext cx="1572768" cy="822960"/>
          </a:xfrm>
          <a:prstGeom prst="roundRect">
            <a:avLst>
              <a:gd name="adj" fmla="val 8889"/>
            </a:avLst>
          </a:prstGeom>
          <a:solidFill>
            <a:srgbClr val="FBE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49056" y="2340864"/>
            <a:ext cx="1280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</a:rPr>
              <a:t>git push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875520" y="2606040"/>
            <a:ext cx="292608" cy="0"/>
          </a:xfrm>
          <a:prstGeom prst="line">
            <a:avLst/>
          </a:prstGeom>
          <a:noFill/>
          <a:ln w="12700">
            <a:solidFill>
              <a:srgbClr val="57606A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241280" y="2194560"/>
            <a:ext cx="157276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87584" y="2340864"/>
            <a:ext cx="1280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</a:rPr>
              <a:t>GitHub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194560" y="3886200"/>
            <a:ext cx="7818120" cy="1234440"/>
          </a:xfrm>
          <a:prstGeom prst="roundRect">
            <a:avLst>
              <a:gd name="adj" fmla="val 3704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59152" y="4014216"/>
            <a:ext cx="748893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"feat: mensagem"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875520" y="6446520"/>
            <a:ext cx="1645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Git/GitHub •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6868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429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1 — Primeiros Passos com Git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932688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Configurar o ambiente e criar o primeiro repositório local.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09728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288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DDF4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1975104"/>
            <a:ext cx="162763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92F"/>
                </a:solidFill>
              </a:rPr>
              <a:t>AULA 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246120" y="1874520"/>
            <a:ext cx="7406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2424" y="2020824"/>
            <a:ext cx="711403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292F"/>
                </a:solidFill>
              </a:rPr>
              <a:t>Configurar o ambiente e criar o primeiro repositório local.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3703320"/>
            <a:ext cx="9738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3849624"/>
            <a:ext cx="9445752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4292F"/>
                </a:solidFill>
              </a:rPr>
              <a:t>Formato: 1h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4292F"/>
                </a:solidFill>
              </a:rPr>
              <a:t>• explicação curta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4292F"/>
                </a:solidFill>
              </a:rPr>
              <a:t>• demonstração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4292F"/>
                </a:solidFill>
              </a:rPr>
              <a:t>• prática guiada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4292F"/>
                </a:solidFill>
              </a:rPr>
              <a:t>• desafio final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875520" y="6446520"/>
            <a:ext cx="1645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Git/GitHub •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6868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429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1 — Roteiro de 1h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932688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blocos curtos e muita prática.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09728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975104"/>
            <a:ext cx="226771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</a:rPr>
              <a:t>0–10 min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</a:rPr>
              <a:t>O que é Git?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520440" y="18288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66744" y="1975104"/>
            <a:ext cx="226771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</a:rPr>
              <a:t>10–25 min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</a:rPr>
              <a:t>Instalação e config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975104"/>
            <a:ext cx="226771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</a:rPr>
              <a:t>25–45 min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</a:rPr>
              <a:t>git init + status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098280" y="18288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44584" y="1975104"/>
            <a:ext cx="226771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</a:rPr>
              <a:t>45–60 min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</a:rPr>
              <a:t>README + tarefa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43000" y="3657600"/>
            <a:ext cx="9966960" cy="1554480"/>
          </a:xfrm>
          <a:prstGeom prst="roundRect">
            <a:avLst>
              <a:gd name="adj" fmla="val 2941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07592" y="3785616"/>
            <a:ext cx="9637776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--version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"Seu Nome"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 "email@gmail.com"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meu-primeiro-projeto &amp;&amp; cd meu-primeiro-projeto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875520" y="6446520"/>
            <a:ext cx="1645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Git/GitHub •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6868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429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1 — Atividade prática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932688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Primeiro contato com um repositório.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09728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82880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DDF4FF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2144" y="1975104"/>
            <a:ext cx="1993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</a:rPr>
              <a:t>Criar arquivo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29000" y="2194560"/>
            <a:ext cx="731520" cy="0"/>
          </a:xfrm>
          <a:prstGeom prst="line">
            <a:avLst/>
          </a:prstGeom>
          <a:noFill/>
          <a:ln w="12700">
            <a:solidFill>
              <a:srgbClr val="0969D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97680" y="182880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43984" y="1975104"/>
            <a:ext cx="1993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</a:rPr>
              <a:t>README.md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720840" y="2194560"/>
            <a:ext cx="731520" cy="0"/>
          </a:xfrm>
          <a:prstGeom prst="line">
            <a:avLst/>
          </a:prstGeom>
          <a:noFill/>
          <a:ln w="12700">
            <a:solidFill>
              <a:srgbClr val="0969D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589520" y="182880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DAFBE1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35824" y="1975104"/>
            <a:ext cx="1993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</a:rPr>
              <a:t>git status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926080" y="3749040"/>
            <a:ext cx="6217920" cy="640080"/>
          </a:xfrm>
          <a:prstGeom prst="roundRect">
            <a:avLst>
              <a:gd name="adj" fmla="val 7143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0672" y="3877056"/>
            <a:ext cx="58887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Meu Primeiro Projeto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057400" y="489204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FFF1E5"/>
          </a:solidFill>
          <a:ln w="12700">
            <a:solidFill>
              <a:srgbClr val="BC4C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03704" y="5038344"/>
            <a:ext cx="775411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</a:rPr>
              <a:t>Tarefa: criar o repositório local apresentacao-pessoal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875520" y="6446520"/>
            <a:ext cx="1645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Git/GitHub •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6868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429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2 — Commits e Histórico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932688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 o ciclo do Git: alteração, stage, commit e histórico.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09728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288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DAFBE1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1975104"/>
            <a:ext cx="162763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92F"/>
                </a:solidFill>
              </a:rPr>
              <a:t>AULA 2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246120" y="1874520"/>
            <a:ext cx="7406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2424" y="2020824"/>
            <a:ext cx="711403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292F"/>
                </a:solidFill>
              </a:rPr>
              <a:t>Entender o ciclo do Git: alteração, stage, commit e histórico.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3703320"/>
            <a:ext cx="9738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3849624"/>
            <a:ext cx="9445752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4292F"/>
                </a:solidFill>
              </a:rPr>
              <a:t>Formato: 1h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4292F"/>
                </a:solidFill>
              </a:rPr>
              <a:t>• explicação curta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4292F"/>
                </a:solidFill>
              </a:rPr>
              <a:t>• demonstração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4292F"/>
                </a:solidFill>
              </a:rPr>
              <a:t>• prática guiada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4292F"/>
                </a:solidFill>
              </a:rPr>
              <a:t>• desafio final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875520" y="6446520"/>
            <a:ext cx="1645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Git/GitHub •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6868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429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2 — Conceito central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932688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é uma versão salva do projeto.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09728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7452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1E5"/>
          </a:solidFill>
          <a:ln w="12700">
            <a:solidFill>
              <a:srgbClr val="BC4C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020824"/>
            <a:ext cx="235915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</a:rPr>
              <a:t>Working tree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</a:rPr>
              <a:t>arquivos editados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566160" y="2331720"/>
            <a:ext cx="731520" cy="0"/>
          </a:xfrm>
          <a:prstGeom prst="line">
            <a:avLst/>
          </a:prstGeom>
          <a:noFill/>
          <a:ln w="12700">
            <a:solidFill>
              <a:srgbClr val="0969D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80560" y="187452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DDF4FF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6864" y="2020824"/>
            <a:ext cx="235915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</a:rPr>
              <a:t>Staging area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</a:rPr>
              <a:t>arquivos preparados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223760" y="2331720"/>
            <a:ext cx="731520" cy="0"/>
          </a:xfrm>
          <a:prstGeom prst="line">
            <a:avLst/>
          </a:prstGeom>
          <a:noFill/>
          <a:ln w="12700">
            <a:solidFill>
              <a:srgbClr val="0969D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138160" y="187452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DAFBE1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84464" y="2020824"/>
            <a:ext cx="235915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</a:rPr>
              <a:t>Commit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</a:rPr>
              <a:t>versão registrada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103120" y="3886200"/>
            <a:ext cx="7955280" cy="1051560"/>
          </a:xfrm>
          <a:prstGeom prst="roundRect">
            <a:avLst>
              <a:gd name="adj" fmla="val 4348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67712" y="4014216"/>
            <a:ext cx="762609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"feat: cria README"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875520" y="6446520"/>
            <a:ext cx="1645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Git/GitHub •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6868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429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2 — Roteiro de 1h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932688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 a teoria em três commits visíveis.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09728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975104"/>
            <a:ext cx="226771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4292F"/>
                </a:solidFill>
              </a:rPr>
              <a:t>0–10 min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4292F"/>
                </a:solidFill>
              </a:rPr>
              <a:t>Revisar init/status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520440" y="18288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66744" y="1975104"/>
            <a:ext cx="226771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4292F"/>
                </a:solidFill>
              </a:rPr>
              <a:t>10–25 min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4292F"/>
                </a:solidFill>
              </a:rPr>
              <a:t>Stage e commit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975104"/>
            <a:ext cx="226771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4292F"/>
                </a:solidFill>
              </a:rPr>
              <a:t>25–45 min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4292F"/>
                </a:solidFill>
              </a:rPr>
              <a:t>sobre-mim.txt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098280" y="18288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44584" y="1975104"/>
            <a:ext cx="226771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4292F"/>
                </a:solidFill>
              </a:rPr>
              <a:t>45–60 min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4292F"/>
                </a:solidFill>
              </a:rPr>
              <a:t>3 commits + log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463040" y="3749040"/>
            <a:ext cx="9326880" cy="960120"/>
          </a:xfrm>
          <a:prstGeom prst="roundRect">
            <a:avLst>
              <a:gd name="adj" fmla="val 476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27632" y="3877056"/>
            <a:ext cx="899769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"Meu nome é..." &gt; sobre-mim.txt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"feat: adiciona nome"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875520" y="6446520"/>
            <a:ext cx="1645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Git/GitHub •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6868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429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2 — Desafio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932688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Criar histórico limpo e fácil de entender.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09728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1828800"/>
            <a:ext cx="2834640" cy="822960"/>
          </a:xfrm>
          <a:prstGeom prst="roundRect">
            <a:avLst>
              <a:gd name="adj" fmla="val 8889"/>
            </a:avLst>
          </a:prstGeom>
          <a:solidFill>
            <a:srgbClr val="DDF4FF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9304" y="1975104"/>
            <a:ext cx="254203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</a:rPr>
              <a:t>Commit 1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</a:rPr>
              <a:t>feat: adiciona nome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663440" y="1828800"/>
            <a:ext cx="2834640" cy="822960"/>
          </a:xfrm>
          <a:prstGeom prst="roundRect">
            <a:avLst>
              <a:gd name="adj" fmla="val 8889"/>
            </a:avLst>
          </a:prstGeom>
          <a:solidFill>
            <a:srgbClr val="DAFBE1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975104"/>
            <a:ext cx="254203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</a:rPr>
              <a:t>Commit 2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</a:rPr>
              <a:t>feat: adiciona curso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183880" y="1828800"/>
            <a:ext cx="2834640" cy="822960"/>
          </a:xfrm>
          <a:prstGeom prst="roundRect">
            <a:avLst>
              <a:gd name="adj" fmla="val 8889"/>
            </a:avLst>
          </a:prstGeom>
          <a:solidFill>
            <a:srgbClr val="FFF1E5"/>
          </a:solidFill>
          <a:ln w="12700">
            <a:solidFill>
              <a:srgbClr val="BC4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0184" y="1975104"/>
            <a:ext cx="254203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</a:rPr>
              <a:t>Commit 3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</a:rPr>
              <a:t>feat: adiciona contato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828800" y="4069080"/>
            <a:ext cx="8503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75104" y="4215384"/>
            <a:ext cx="821131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</a:rPr>
              <a:t>Critério de conclusão: git log --oneline mostra os 3 commits.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875520" y="6446520"/>
            <a:ext cx="1645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Git/GitHub •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6868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429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3 — GitHub na Prática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932688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Publicar o projeto local em um repositório remoto.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09728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288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1E5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1975104"/>
            <a:ext cx="162763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92F"/>
                </a:solidFill>
              </a:rPr>
              <a:t>AULA 3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246120" y="1874520"/>
            <a:ext cx="7406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2424" y="2020824"/>
            <a:ext cx="711403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292F"/>
                </a:solidFill>
              </a:rPr>
              <a:t>Publicar o projeto local em um repositório remoto.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3703320"/>
            <a:ext cx="9738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3849624"/>
            <a:ext cx="9445752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4292F"/>
                </a:solidFill>
              </a:rPr>
              <a:t>Formato: 1h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4292F"/>
                </a:solidFill>
              </a:rPr>
              <a:t>• explicação curta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4292F"/>
                </a:solidFill>
              </a:rPr>
              <a:t>• demonstração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4292F"/>
                </a:solidFill>
              </a:rPr>
              <a:t>• prática guiada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4292F"/>
                </a:solidFill>
              </a:rPr>
              <a:t>• desafio final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875520" y="6446520"/>
            <a:ext cx="1645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Git/GitHub •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6868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429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3 — Do computador para o GitHub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932688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aluno precisa enxergar local e remoto.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09728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92024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DDF4FF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97864" y="2066544"/>
            <a:ext cx="272491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292F"/>
                </a:solidFill>
              </a:rPr>
              <a:t>Computador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4292F"/>
                </a:solidFill>
              </a:rPr>
              <a:t>Git local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138160" y="192024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DAFBE1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84464" y="2066544"/>
            <a:ext cx="272491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292F"/>
                </a:solidFill>
              </a:rPr>
              <a:t>GitHub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4292F"/>
                </a:solidFill>
              </a:rPr>
              <a:t>repositório remoto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206240" y="2240280"/>
            <a:ext cx="3749040" cy="0"/>
          </a:xfrm>
          <a:prstGeom prst="line">
            <a:avLst/>
          </a:prstGeom>
          <a:noFill/>
          <a:ln w="12700">
            <a:solidFill>
              <a:srgbClr val="0969DA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486400" y="187452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69DA"/>
                </a:solidFill>
              </a:rPr>
              <a:t>git push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55280" y="2697480"/>
            <a:ext cx="-3749040" cy="0"/>
          </a:xfrm>
          <a:prstGeom prst="line">
            <a:avLst/>
          </a:prstGeom>
          <a:noFill/>
          <a:ln w="12700">
            <a:solidFill>
              <a:srgbClr val="57606A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486400" y="281635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7606A"/>
                </a:solidFill>
              </a:rPr>
              <a:t>git pull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920240" y="4069080"/>
            <a:ext cx="8229600" cy="9144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84832" y="4197096"/>
            <a:ext cx="790041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URL_DO_REPOSITORIO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-v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master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875520" y="6446520"/>
            <a:ext cx="1645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Git/GitHub •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6868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429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3 — Roteiro de 1h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932688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Evite criar o README no GitHub para não gerar conflito no início.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09728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783080"/>
            <a:ext cx="475488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200" dirty="0">
                <a:solidFill>
                  <a:srgbClr val="24292F"/>
                </a:solidFill>
              </a:rPr>
              <a:t>Criar repositório no GitHub</a:t>
            </a:r>
            <a:endParaRPr lang="en-US" sz="2200" dirty="0"/>
          </a:p>
          <a:p>
            <a:r>
              <a:rPr lang="en-US" sz="2200" dirty="0">
                <a:solidFill>
                  <a:srgbClr val="24292F"/>
                </a:solidFill>
              </a:rPr>
              <a:t>Copiar a URL HTTPS ou SSH</a:t>
            </a:r>
            <a:endParaRPr lang="en-US" sz="2200" dirty="0"/>
          </a:p>
          <a:p>
            <a:r>
              <a:rPr lang="en-US" sz="2200" dirty="0">
                <a:solidFill>
                  <a:srgbClr val="24292F"/>
                </a:solidFill>
              </a:rPr>
              <a:t>Adicionar origin no projeto local</a:t>
            </a:r>
            <a:endParaRPr lang="en-US" sz="2200" dirty="0"/>
          </a:p>
          <a:p>
            <a:r>
              <a:rPr lang="en-US" sz="2200" dirty="0">
                <a:solidFill>
                  <a:srgbClr val="24292F"/>
                </a:solidFill>
              </a:rPr>
              <a:t>Executar o primeiro push</a:t>
            </a:r>
            <a:endParaRPr lang="en-US" sz="2200" dirty="0"/>
          </a:p>
          <a:p>
            <a:r>
              <a:rPr lang="en-US" sz="2200" dirty="0">
                <a:solidFill>
                  <a:srgbClr val="24292F"/>
                </a:solidFill>
              </a:rPr>
              <a:t>Abrir o projeto no navegador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0" y="2103120"/>
            <a:ext cx="4800600" cy="1325880"/>
          </a:xfrm>
          <a:prstGeom prst="roundRect">
            <a:avLst>
              <a:gd name="adj" fmla="val 3448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2231136"/>
            <a:ext cx="4471416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URL_DO_REPOSITORIO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master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11680" y="5166360"/>
            <a:ext cx="8138160" cy="594360"/>
          </a:xfrm>
          <a:prstGeom prst="roundRect">
            <a:avLst>
              <a:gd name="adj" fmla="val 12308"/>
            </a:avLst>
          </a:prstGeom>
          <a:solidFill>
            <a:srgbClr val="FFF1E5"/>
          </a:solidFill>
          <a:ln w="12700">
            <a:solidFill>
              <a:srgbClr val="BC4C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57984" y="5312664"/>
            <a:ext cx="784555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</a:rPr>
              <a:t>Entrega: cada aluno compartilha o link do repositório.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875520" y="6446520"/>
            <a:ext cx="1645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Git/GitHub •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6868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429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4 — Branches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932688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Criar funcionalidades separadas sem mexer diretamente na principal.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09728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288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BE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1975104"/>
            <a:ext cx="162763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92F"/>
                </a:solidFill>
              </a:rPr>
              <a:t>AULA 4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246120" y="1874520"/>
            <a:ext cx="7406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2424" y="2020824"/>
            <a:ext cx="711403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292F"/>
                </a:solidFill>
              </a:rPr>
              <a:t>Criar funcionalidades separadas sem mexer diretamente na principal.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3703320"/>
            <a:ext cx="9738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3849624"/>
            <a:ext cx="9445752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4292F"/>
                </a:solidFill>
              </a:rPr>
              <a:t>Formato: 1h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4292F"/>
                </a:solidFill>
              </a:rPr>
              <a:t>• explicação curta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4292F"/>
                </a:solidFill>
              </a:rPr>
              <a:t>• demonstração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4292F"/>
                </a:solidFill>
              </a:rPr>
              <a:t>• prática guiada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4292F"/>
                </a:solidFill>
              </a:rPr>
              <a:t>• desafio final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875520" y="6446520"/>
            <a:ext cx="1645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Git/GitHub • 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6868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429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4 — Como explicar branch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932688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branch é uma linha paralela de trabalho.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09728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92024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2429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2066544"/>
            <a:ext cx="112471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</a:rPr>
              <a:t>master/main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</a:rPr>
              <a:t>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68880" y="2267712"/>
            <a:ext cx="594360" cy="0"/>
          </a:xfrm>
          <a:prstGeom prst="line">
            <a:avLst/>
          </a:prstGeom>
          <a:noFill/>
          <a:ln w="12700">
            <a:solidFill>
              <a:srgbClr val="24292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46120" y="192024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2429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92424" y="2066544"/>
            <a:ext cx="112471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</a:rPr>
              <a:t>master/main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</a:rPr>
              <a:t>B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800600" y="2267712"/>
            <a:ext cx="3429000" cy="0"/>
          </a:xfrm>
          <a:prstGeom prst="line">
            <a:avLst/>
          </a:prstGeom>
          <a:noFill/>
          <a:ln w="12700">
            <a:solidFill>
              <a:srgbClr val="24292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458200" y="192024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2429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04504" y="2066544"/>
            <a:ext cx="112471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</a:rPr>
              <a:t>master/main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</a:rPr>
              <a:t>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0" y="2743200"/>
            <a:ext cx="685800" cy="566928"/>
          </a:xfrm>
          <a:prstGeom prst="line">
            <a:avLst/>
          </a:prstGeom>
          <a:noFill/>
          <a:ln w="12700">
            <a:solidFill>
              <a:srgbClr val="8250D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40680" y="315468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FBEFF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86984" y="3300984"/>
            <a:ext cx="112471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</a:rPr>
              <a:t>feature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</a:rPr>
              <a:t>C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995160" y="3493008"/>
            <a:ext cx="548640" cy="0"/>
          </a:xfrm>
          <a:prstGeom prst="line">
            <a:avLst/>
          </a:prstGeom>
          <a:noFill/>
          <a:ln w="12700">
            <a:solidFill>
              <a:srgbClr val="8250D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26680" y="315468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FBEFF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72984" y="3300984"/>
            <a:ext cx="112471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</a:rPr>
              <a:t>feature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</a:rPr>
              <a:t>D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281160" y="3246120"/>
            <a:ext cx="640080" cy="-548640"/>
          </a:xfrm>
          <a:prstGeom prst="line">
            <a:avLst/>
          </a:prstGeom>
          <a:noFill/>
          <a:ln w="12700">
            <a:solidFill>
              <a:srgbClr val="8250DF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555480" y="30358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250DF"/>
                </a:solidFill>
              </a:rPr>
              <a:t>merge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645920" y="4892040"/>
            <a:ext cx="8778240" cy="822960"/>
          </a:xfrm>
          <a:prstGeom prst="roundRect">
            <a:avLst>
              <a:gd name="adj" fmla="val 5556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10512" y="5020056"/>
            <a:ext cx="844905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feature-hobbies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master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75520" y="6446520"/>
            <a:ext cx="1645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Git/GitHub • 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6868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429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4 — Roteiro de 1h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932688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Faça cada aluno criar uma branch com algo pessoal.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09728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975104"/>
            <a:ext cx="226771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4292F"/>
                </a:solidFill>
              </a:rPr>
              <a:t>0–10 min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4292F"/>
                </a:solidFill>
              </a:rPr>
              <a:t>Branch principal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520440" y="18288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66744" y="1975104"/>
            <a:ext cx="226771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4292F"/>
                </a:solidFill>
              </a:rPr>
              <a:t>10–25 min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4292F"/>
                </a:solidFill>
              </a:rPr>
              <a:t>Criar branch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975104"/>
            <a:ext cx="226771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4292F"/>
                </a:solidFill>
              </a:rPr>
              <a:t>25–45 min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4292F"/>
                </a:solidFill>
              </a:rPr>
              <a:t>hobbies.txt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098280" y="18288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44584" y="1975104"/>
            <a:ext cx="226771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4292F"/>
                </a:solidFill>
              </a:rPr>
              <a:t>45–60 min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4292F"/>
                </a:solidFill>
              </a:rPr>
              <a:t>Desafio individual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828800" y="4251960"/>
            <a:ext cx="8549640" cy="685800"/>
          </a:xfrm>
          <a:prstGeom prst="roundRect">
            <a:avLst>
              <a:gd name="adj" fmla="val 10667"/>
            </a:avLst>
          </a:prstGeom>
          <a:solidFill>
            <a:srgbClr val="FBEFF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75104" y="4398264"/>
            <a:ext cx="825703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</a:rPr>
              <a:t>Critério: branch criada + commit feito fora da master/main.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875520" y="6446520"/>
            <a:ext cx="1645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Git/GitHub • 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6868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429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5 — Merge e Projeto Final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932688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Juntar uma funcionalidade pronta e publicar o mini portfólio.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09728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288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DDF4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1975104"/>
            <a:ext cx="162763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92F"/>
                </a:solidFill>
              </a:rPr>
              <a:t>AULA 5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246120" y="1874520"/>
            <a:ext cx="7406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2424" y="2020824"/>
            <a:ext cx="711403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292F"/>
                </a:solidFill>
              </a:rPr>
              <a:t>Juntar uma funcionalidade pronta e publicar o mini portfólio.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3703320"/>
            <a:ext cx="9738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3849624"/>
            <a:ext cx="9445752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4292F"/>
                </a:solidFill>
              </a:rPr>
              <a:t>Formato: 1h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4292F"/>
                </a:solidFill>
              </a:rPr>
              <a:t>• explicação curta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4292F"/>
                </a:solidFill>
              </a:rPr>
              <a:t>• demonstração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4292F"/>
                </a:solidFill>
              </a:rPr>
              <a:t>• prática guiada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4292F"/>
                </a:solidFill>
              </a:rPr>
              <a:t>• desafio final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875520" y="6446520"/>
            <a:ext cx="1645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Git/GitHub • 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6868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429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5 — Merge na prática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932688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 une a branch de funcionalidade à branch principal.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09728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2880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BEFF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1975104"/>
            <a:ext cx="354787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4292F"/>
                </a:solidFill>
              </a:rPr>
              <a:t>feature-hobbies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24292F"/>
                </a:solidFill>
              </a:rPr>
              <a:t>funcionalidade pronta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384048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DDF4FF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3986784"/>
            <a:ext cx="354787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4292F"/>
                </a:solidFill>
              </a:rPr>
              <a:t>master/main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24292F"/>
                </a:solidFill>
              </a:rPr>
              <a:t>versão principal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892040" y="2240280"/>
            <a:ext cx="1828800" cy="1920240"/>
          </a:xfrm>
          <a:prstGeom prst="line">
            <a:avLst/>
          </a:prstGeom>
          <a:noFill/>
          <a:ln w="12700">
            <a:solidFill>
              <a:srgbClr val="8250D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949440" y="324612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DAFBE1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95744" y="3392424"/>
            <a:ext cx="331927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292F"/>
                </a:solidFill>
              </a:rPr>
              <a:t>git merge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4292F"/>
                </a:solidFill>
              </a:rPr>
              <a:t>une o trabalho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600200" y="5166360"/>
            <a:ext cx="9006840" cy="731520"/>
          </a:xfrm>
          <a:prstGeom prst="roundRect">
            <a:avLst>
              <a:gd name="adj" fmla="val 625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64792" y="5294376"/>
            <a:ext cx="86776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master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feature-hobbies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875520" y="6446520"/>
            <a:ext cx="1645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Git/GitHub • 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6868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429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Projeto final — Mini portfólio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932688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Estrutura simples, útil e perfeita para iniciantes.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09728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28800"/>
            <a:ext cx="4754880" cy="2103120"/>
          </a:xfrm>
          <a:prstGeom prst="roundRect">
            <a:avLst>
              <a:gd name="adj" fmla="val 2174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956816"/>
            <a:ext cx="4425696" cy="1847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README.md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sobre-mim.txt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habilidades.txt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hobbies.txt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contato.txt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1828800"/>
            <a:ext cx="457200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200" dirty="0">
                <a:solidFill>
                  <a:srgbClr val="24292F"/>
                </a:solidFill>
              </a:rPr>
              <a:t>Criar o projeto local</a:t>
            </a:r>
            <a:endParaRPr lang="en-US" sz="2200" dirty="0"/>
          </a:p>
          <a:p>
            <a:r>
              <a:rPr lang="en-US" sz="2200" dirty="0">
                <a:solidFill>
                  <a:srgbClr val="24292F"/>
                </a:solidFill>
              </a:rPr>
              <a:t>Publicar no GitHub</a:t>
            </a:r>
            <a:endParaRPr lang="en-US" sz="2200" dirty="0"/>
          </a:p>
          <a:p>
            <a:r>
              <a:rPr lang="en-US" sz="2200" dirty="0">
                <a:solidFill>
                  <a:srgbClr val="24292F"/>
                </a:solidFill>
              </a:rPr>
              <a:t>Criar uma branch de funcionalidade</a:t>
            </a:r>
            <a:endParaRPr lang="en-US" sz="2200" dirty="0"/>
          </a:p>
          <a:p>
            <a:r>
              <a:rPr lang="en-US" sz="2200" dirty="0">
                <a:solidFill>
                  <a:srgbClr val="24292F"/>
                </a:solidFill>
              </a:rPr>
              <a:t>Fazer merge</a:t>
            </a:r>
            <a:endParaRPr lang="en-US" sz="2200" dirty="0"/>
          </a:p>
          <a:p>
            <a:r>
              <a:rPr lang="en-US" sz="2200" dirty="0">
                <a:solidFill>
                  <a:srgbClr val="24292F"/>
                </a:solidFill>
              </a:rPr>
              <a:t>Enviar a versão final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011680" y="507492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DAFBE1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57984" y="5221224"/>
            <a:ext cx="784555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</a:rPr>
              <a:t>Entrega final: link do repositório publicado.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875520" y="6446520"/>
            <a:ext cx="1645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Git/GitHub • 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6868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429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do instrutor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932688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validar antes e durante o minicurso.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09728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737360"/>
            <a:ext cx="987552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300" dirty="0">
                <a:solidFill>
                  <a:srgbClr val="24292F"/>
                </a:solidFill>
              </a:rPr>
              <a:t>Git instalado em todos os computadores</a:t>
            </a:r>
            <a:endParaRPr lang="en-US" sz="2300" dirty="0"/>
          </a:p>
          <a:p>
            <a:r>
              <a:rPr lang="en-US" sz="2300" dirty="0">
                <a:solidFill>
                  <a:srgbClr val="24292F"/>
                </a:solidFill>
              </a:rPr>
              <a:t>Conta GitHub criada antes da Aula 3</a:t>
            </a:r>
            <a:endParaRPr lang="en-US" sz="2300" dirty="0"/>
          </a:p>
          <a:p>
            <a:r>
              <a:rPr lang="en-US" sz="2300" dirty="0">
                <a:solidFill>
                  <a:srgbClr val="24292F"/>
                </a:solidFill>
              </a:rPr>
              <a:t>Terminal com fonte grande no projetor</a:t>
            </a:r>
            <a:endParaRPr lang="en-US" sz="2300" dirty="0"/>
          </a:p>
          <a:p>
            <a:r>
              <a:rPr lang="en-US" sz="2300" dirty="0">
                <a:solidFill>
                  <a:srgbClr val="24292F"/>
                </a:solidFill>
              </a:rPr>
              <a:t>Não entrar em rebase, tags ou Git Flow</a:t>
            </a:r>
            <a:endParaRPr lang="en-US" sz="2300" dirty="0"/>
          </a:p>
          <a:p>
            <a:r>
              <a:rPr lang="en-US" sz="2300" dirty="0">
                <a:solidFill>
                  <a:srgbClr val="24292F"/>
                </a:solidFill>
              </a:rPr>
              <a:t>Focar em comandos essenciais e repetição prática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1828800" y="5166360"/>
            <a:ext cx="8549640" cy="594360"/>
          </a:xfrm>
          <a:prstGeom prst="roundRect">
            <a:avLst>
              <a:gd name="adj" fmla="val 12308"/>
            </a:avLst>
          </a:prstGeom>
          <a:solidFill>
            <a:srgbClr val="FFF1E5"/>
          </a:solidFill>
          <a:ln w="12700">
            <a:solidFill>
              <a:srgbClr val="BC4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75104" y="5312664"/>
            <a:ext cx="825703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</a:rPr>
              <a:t>Regra didática: explicar pouco, demonstrar, praticar e repetir.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875520" y="6446520"/>
            <a:ext cx="1645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Git/GitHub • 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6868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429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Comandos essenciais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932688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lista que os alunos precisam levar para casa.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09728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1783080"/>
            <a:ext cx="8412480" cy="3337560"/>
          </a:xfrm>
          <a:prstGeom prst="roundRect">
            <a:avLst>
              <a:gd name="adj" fmla="val 137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84832" y="1911096"/>
            <a:ext cx="8083296" cy="3081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"mensagem"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nova-branch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nome-da-branch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URL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URL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0" y="6446520"/>
            <a:ext cx="1645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Git/GitHub • 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6868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429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esperado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932688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Depois de 5 aulas, o aluno não apenas entende: ele publicou um projeto.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09728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783080"/>
            <a:ext cx="566928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300" dirty="0">
                <a:solidFill>
                  <a:srgbClr val="24292F"/>
                </a:solidFill>
              </a:rPr>
              <a:t>Criar repositórios Git</a:t>
            </a:r>
            <a:endParaRPr lang="en-US" sz="2300" dirty="0"/>
          </a:p>
          <a:p>
            <a:r>
              <a:rPr lang="en-US" sz="2300" dirty="0">
                <a:solidFill>
                  <a:srgbClr val="24292F"/>
                </a:solidFill>
              </a:rPr>
              <a:t>Fazer commits com mensagens claras</a:t>
            </a:r>
            <a:endParaRPr lang="en-US" sz="2300" dirty="0"/>
          </a:p>
          <a:p>
            <a:r>
              <a:rPr lang="en-US" sz="2300" dirty="0">
                <a:solidFill>
                  <a:srgbClr val="24292F"/>
                </a:solidFill>
              </a:rPr>
              <a:t>Publicar projetos no GitHub</a:t>
            </a:r>
            <a:endParaRPr lang="en-US" sz="2300" dirty="0"/>
          </a:p>
          <a:p>
            <a:r>
              <a:rPr lang="en-US" sz="2300" dirty="0">
                <a:solidFill>
                  <a:srgbClr val="24292F"/>
                </a:solidFill>
              </a:rPr>
              <a:t>Criar branches de funcionalidade</a:t>
            </a:r>
            <a:endParaRPr lang="en-US" sz="2300" dirty="0"/>
          </a:p>
          <a:p>
            <a:r>
              <a:rPr lang="en-US" sz="2300" dirty="0">
                <a:solidFill>
                  <a:srgbClr val="24292F"/>
                </a:solidFill>
              </a:rPr>
              <a:t>Realizar merge</a:t>
            </a:r>
            <a:endParaRPr lang="en-US" sz="2300" dirty="0"/>
          </a:p>
          <a:p>
            <a:r>
              <a:rPr lang="en-US" sz="2300" dirty="0">
                <a:solidFill>
                  <a:srgbClr val="24292F"/>
                </a:solidFill>
              </a:rPr>
              <a:t>Entregar um mini portfólio versionado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7132320" y="2240280"/>
            <a:ext cx="3840480" cy="1417320"/>
          </a:xfrm>
          <a:prstGeom prst="roundRect">
            <a:avLst>
              <a:gd name="adj" fmla="val 5161"/>
            </a:avLst>
          </a:prstGeom>
          <a:solidFill>
            <a:srgbClr val="DDF4FF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78624" y="2386584"/>
            <a:ext cx="3547872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292F"/>
                </a:solidFill>
              </a:rPr>
              <a:t>Git/GitHub deixa de ser teoria e vira prática de portfólio.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875520" y="6446520"/>
            <a:ext cx="1645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Git/GitHub • 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Material educacional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Rápido de Git e GitHub — 5 Aulas Práticas</dc:title>
  <dc:subject>Curso básico de Git e GitHub em 5 aulas</dc:subject>
  <dc:creator>Rodrigo Barbosa De Sousa</dc:creator>
  <cp:lastModifiedBy>Rodrigo Barbosa De Sousa</cp:lastModifiedBy>
  <cp:revision>1</cp:revision>
  <dcterms:created xsi:type="dcterms:W3CDTF">2026-06-10T13:56:07Z</dcterms:created>
  <dcterms:modified xsi:type="dcterms:W3CDTF">2026-06-10T13:56:07Z</dcterms:modified>
</cp:coreProperties>
</file>